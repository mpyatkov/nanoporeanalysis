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embeddedFontLst>
    <p:embeddedFont>
      <p:font typeface="Roboto Mono" pitchFamily="49"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56" d="100"/>
          <a:sy n="156" d="100"/>
        </p:scale>
        <p:origin x="808"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6b18686b75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6b18686b75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6b18686b75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6b18686b7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6b18686b75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6b18686b75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title="2025-06-26_15:12:45.png"/>
          <p:cNvPicPr preferRelativeResize="0"/>
          <p:nvPr/>
        </p:nvPicPr>
        <p:blipFill>
          <a:blip r:embed="rId3">
            <a:alphaModFix/>
          </a:blip>
          <a:stretch>
            <a:fillRect/>
          </a:stretch>
        </p:blipFill>
        <p:spPr>
          <a:xfrm>
            <a:off x="152400" y="152400"/>
            <a:ext cx="3846500" cy="3099225"/>
          </a:xfrm>
          <a:prstGeom prst="rect">
            <a:avLst/>
          </a:prstGeom>
          <a:noFill/>
          <a:ln w="9525" cap="flat" cmpd="sng">
            <a:solidFill>
              <a:schemeClr val="dk2"/>
            </a:solidFill>
            <a:prstDash val="solid"/>
            <a:round/>
            <a:headEnd type="none" w="sm" len="sm"/>
            <a:tailEnd type="none" w="sm" len="sm"/>
          </a:ln>
        </p:spPr>
      </p:pic>
      <p:pic>
        <p:nvPicPr>
          <p:cNvPr id="55" name="Google Shape;55;p13" title="2025-06-26_15:13:04.png"/>
          <p:cNvPicPr preferRelativeResize="0"/>
          <p:nvPr/>
        </p:nvPicPr>
        <p:blipFill>
          <a:blip r:embed="rId4">
            <a:alphaModFix/>
          </a:blip>
          <a:stretch>
            <a:fillRect/>
          </a:stretch>
        </p:blipFill>
        <p:spPr>
          <a:xfrm>
            <a:off x="4485475" y="2951925"/>
            <a:ext cx="4070575" cy="1669975"/>
          </a:xfrm>
          <a:prstGeom prst="rect">
            <a:avLst/>
          </a:prstGeom>
          <a:noFill/>
          <a:ln w="9525" cap="flat" cmpd="sng">
            <a:solidFill>
              <a:schemeClr val="dk2"/>
            </a:solidFill>
            <a:prstDash val="solid"/>
            <a:round/>
            <a:headEnd type="none" w="sm" len="sm"/>
            <a:tailEnd type="none" w="sm" len="sm"/>
          </a:ln>
        </p:spPr>
      </p:pic>
      <p:sp>
        <p:nvSpPr>
          <p:cNvPr id="56" name="Google Shape;56;p13"/>
          <p:cNvSpPr/>
          <p:nvPr/>
        </p:nvSpPr>
        <p:spPr>
          <a:xfrm>
            <a:off x="383975" y="2245700"/>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57" name="Google Shape;57;p13"/>
          <p:cNvSpPr/>
          <p:nvPr/>
        </p:nvSpPr>
        <p:spPr>
          <a:xfrm>
            <a:off x="3216650" y="3796250"/>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cxnSp>
        <p:nvCxnSpPr>
          <p:cNvPr id="58" name="Google Shape;58;p13"/>
          <p:cNvCxnSpPr/>
          <p:nvPr/>
        </p:nvCxnSpPr>
        <p:spPr>
          <a:xfrm>
            <a:off x="847600" y="2455850"/>
            <a:ext cx="594000" cy="0"/>
          </a:xfrm>
          <a:prstGeom prst="straightConnector1">
            <a:avLst/>
          </a:prstGeom>
          <a:noFill/>
          <a:ln w="28575" cap="flat" cmpd="sng">
            <a:solidFill>
              <a:srgbClr val="FF0000"/>
            </a:solidFill>
            <a:prstDash val="solid"/>
            <a:round/>
            <a:headEnd type="none" w="med" len="med"/>
            <a:tailEnd type="stealth" w="med" len="med"/>
          </a:ln>
        </p:spPr>
      </p:cxnSp>
      <p:cxnSp>
        <p:nvCxnSpPr>
          <p:cNvPr id="59" name="Google Shape;59;p13"/>
          <p:cNvCxnSpPr/>
          <p:nvPr/>
        </p:nvCxnSpPr>
        <p:spPr>
          <a:xfrm>
            <a:off x="3636950" y="4006400"/>
            <a:ext cx="594000" cy="0"/>
          </a:xfrm>
          <a:prstGeom prst="straightConnector1">
            <a:avLst/>
          </a:prstGeom>
          <a:noFill/>
          <a:ln w="28575" cap="flat" cmpd="sng">
            <a:solidFill>
              <a:srgbClr val="FF0000"/>
            </a:solidFill>
            <a:prstDash val="solid"/>
            <a:round/>
            <a:headEnd type="none" w="med" len="med"/>
            <a:tailEnd type="stealth" w="med" len="med"/>
          </a:ln>
        </p:spPr>
      </p:cxnSp>
      <p:sp>
        <p:nvSpPr>
          <p:cNvPr id="60" name="Google Shape;60;p13"/>
          <p:cNvSpPr txBox="1"/>
          <p:nvPr/>
        </p:nvSpPr>
        <p:spPr>
          <a:xfrm>
            <a:off x="4485475" y="998925"/>
            <a:ext cx="42060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latin typeface="Roboto Mono"/>
                <a:ea typeface="Roboto Mono"/>
                <a:cs typeface="Roboto Mono"/>
                <a:sym typeface="Roboto Mono"/>
              </a:rPr>
              <a:t>login to</a:t>
            </a:r>
            <a:r>
              <a:rPr lang="en" sz="1600" b="1">
                <a:solidFill>
                  <a:schemeClr val="dk2"/>
                </a:solidFill>
                <a:latin typeface="Roboto Mono"/>
                <a:ea typeface="Roboto Mono"/>
                <a:cs typeface="Roboto Mono"/>
                <a:sym typeface="Roboto Mono"/>
              </a:rPr>
              <a:t> https://scc-ondemand1.bu.edu/</a:t>
            </a:r>
            <a:endParaRPr sz="1600" b="1">
              <a:solidFill>
                <a:schemeClr val="dk2"/>
              </a:solidFill>
              <a:latin typeface="Roboto Mono"/>
              <a:ea typeface="Roboto Mono"/>
              <a:cs typeface="Roboto Mono"/>
              <a:sym typeface="Roboto Mono"/>
            </a:endParaRPr>
          </a:p>
        </p:txBody>
      </p:sp>
      <p:sp>
        <p:nvSpPr>
          <p:cNvPr id="61" name="Google Shape;61;p13"/>
          <p:cNvSpPr txBox="1"/>
          <p:nvPr/>
        </p:nvSpPr>
        <p:spPr>
          <a:xfrm>
            <a:off x="6876600" y="-43450"/>
            <a:ext cx="2267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2"/>
                </a:solidFill>
              </a:rPr>
              <a:t>NanoporeAnalysis</a:t>
            </a:r>
            <a:endParaRPr sz="1800" b="1">
              <a:solidFill>
                <a:schemeClr val="dk2"/>
              </a:solidFill>
            </a:endParaRPr>
          </a:p>
        </p:txBody>
      </p:sp>
      <p:sp>
        <p:nvSpPr>
          <p:cNvPr id="62" name="Google Shape;62;p13"/>
          <p:cNvSpPr txBox="1"/>
          <p:nvPr/>
        </p:nvSpPr>
        <p:spPr>
          <a:xfrm>
            <a:off x="328000" y="4621900"/>
            <a:ext cx="8430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latin typeface="Roboto Mono"/>
                <a:ea typeface="Roboto Mono"/>
                <a:cs typeface="Roboto Mono"/>
                <a:sym typeface="Roboto Mono"/>
              </a:rPr>
              <a:t>and go to</a:t>
            </a:r>
            <a:r>
              <a:rPr lang="en" sz="1600" b="1">
                <a:solidFill>
                  <a:schemeClr val="dk2"/>
                </a:solidFill>
                <a:latin typeface="Roboto Mono"/>
                <a:ea typeface="Roboto Mono"/>
                <a:cs typeface="Roboto Mono"/>
                <a:sym typeface="Roboto Mono"/>
              </a:rPr>
              <a:t> /projectnb/wax-es/WAXMANLAB_SOFT/NanoporeAnalysis </a:t>
            </a:r>
            <a:r>
              <a:rPr lang="en" sz="1600">
                <a:solidFill>
                  <a:schemeClr val="dk2"/>
                </a:solidFill>
                <a:latin typeface="Roboto Mono"/>
                <a:ea typeface="Roboto Mono"/>
                <a:cs typeface="Roboto Mono"/>
                <a:sym typeface="Roboto Mono"/>
              </a:rPr>
              <a:t>folder</a:t>
            </a:r>
            <a:endParaRPr sz="1600">
              <a:solidFill>
                <a:schemeClr val="dk2"/>
              </a:solidFill>
              <a:latin typeface="Roboto Mono"/>
              <a:ea typeface="Roboto Mono"/>
              <a:cs typeface="Roboto Mono"/>
              <a:sym typeface="Roboto Mono"/>
            </a:endParaRPr>
          </a:p>
        </p:txBody>
      </p:sp>
      <p:sp>
        <p:nvSpPr>
          <p:cNvPr id="63" name="Google Shape;63;p13"/>
          <p:cNvSpPr/>
          <p:nvPr/>
        </p:nvSpPr>
        <p:spPr>
          <a:xfrm>
            <a:off x="6142375" y="3831525"/>
            <a:ext cx="1461000" cy="275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13"/>
          <p:cNvSpPr/>
          <p:nvPr/>
        </p:nvSpPr>
        <p:spPr>
          <a:xfrm>
            <a:off x="1688000" y="2358875"/>
            <a:ext cx="1461000" cy="2757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4" title="2025-06-26_15:13:27.png"/>
          <p:cNvPicPr preferRelativeResize="0"/>
          <p:nvPr/>
        </p:nvPicPr>
        <p:blipFill>
          <a:blip r:embed="rId3">
            <a:alphaModFix/>
          </a:blip>
          <a:stretch>
            <a:fillRect/>
          </a:stretch>
        </p:blipFill>
        <p:spPr>
          <a:xfrm>
            <a:off x="1178938" y="500850"/>
            <a:ext cx="6765976" cy="2129300"/>
          </a:xfrm>
          <a:prstGeom prst="rect">
            <a:avLst/>
          </a:prstGeom>
          <a:noFill/>
          <a:ln w="9525" cap="flat" cmpd="sng">
            <a:solidFill>
              <a:schemeClr val="dk2"/>
            </a:solidFill>
            <a:prstDash val="solid"/>
            <a:round/>
            <a:headEnd type="none" w="sm" len="sm"/>
            <a:tailEnd type="none" w="sm" len="sm"/>
          </a:ln>
        </p:spPr>
      </p:pic>
      <p:cxnSp>
        <p:nvCxnSpPr>
          <p:cNvPr id="70" name="Google Shape;70;p14"/>
          <p:cNvCxnSpPr/>
          <p:nvPr/>
        </p:nvCxnSpPr>
        <p:spPr>
          <a:xfrm>
            <a:off x="661150" y="2500025"/>
            <a:ext cx="594000" cy="0"/>
          </a:xfrm>
          <a:prstGeom prst="straightConnector1">
            <a:avLst/>
          </a:prstGeom>
          <a:noFill/>
          <a:ln w="28575" cap="flat" cmpd="sng">
            <a:solidFill>
              <a:srgbClr val="FF0000"/>
            </a:solidFill>
            <a:prstDash val="solid"/>
            <a:round/>
            <a:headEnd type="none" w="med" len="med"/>
            <a:tailEnd type="stealth" w="med" len="med"/>
          </a:ln>
        </p:spPr>
      </p:cxnSp>
      <p:cxnSp>
        <p:nvCxnSpPr>
          <p:cNvPr id="71" name="Google Shape;71;p14"/>
          <p:cNvCxnSpPr/>
          <p:nvPr/>
        </p:nvCxnSpPr>
        <p:spPr>
          <a:xfrm rot="10800000">
            <a:off x="8067775" y="790550"/>
            <a:ext cx="354600" cy="325800"/>
          </a:xfrm>
          <a:prstGeom prst="straightConnector1">
            <a:avLst/>
          </a:prstGeom>
          <a:noFill/>
          <a:ln w="28575" cap="flat" cmpd="sng">
            <a:solidFill>
              <a:srgbClr val="FF0000"/>
            </a:solidFill>
            <a:prstDash val="solid"/>
            <a:round/>
            <a:headEnd type="none" w="med" len="med"/>
            <a:tailEnd type="stealth" w="med" len="med"/>
          </a:ln>
        </p:spPr>
      </p:cxnSp>
      <p:sp>
        <p:nvSpPr>
          <p:cNvPr id="72" name="Google Shape;72;p14"/>
          <p:cNvSpPr/>
          <p:nvPr/>
        </p:nvSpPr>
        <p:spPr>
          <a:xfrm>
            <a:off x="240850" y="2289875"/>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73" name="Google Shape;73;p14"/>
          <p:cNvSpPr/>
          <p:nvPr/>
        </p:nvSpPr>
        <p:spPr>
          <a:xfrm>
            <a:off x="8267875" y="1116350"/>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4</a:t>
            </a:r>
            <a:endParaRPr/>
          </a:p>
        </p:txBody>
      </p:sp>
      <p:sp>
        <p:nvSpPr>
          <p:cNvPr id="74" name="Google Shape;74;p14"/>
          <p:cNvSpPr txBox="1"/>
          <p:nvPr/>
        </p:nvSpPr>
        <p:spPr>
          <a:xfrm>
            <a:off x="487638" y="3168100"/>
            <a:ext cx="8148600" cy="141574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Click checkbox near the </a:t>
            </a:r>
            <a:r>
              <a:rPr lang="en" sz="1600" b="1" dirty="0" err="1">
                <a:solidFill>
                  <a:schemeClr val="dk2"/>
                </a:solidFill>
                <a:latin typeface="Roboto Mono"/>
                <a:ea typeface="Roboto Mono"/>
                <a:cs typeface="Roboto Mono"/>
                <a:sym typeface="Roboto Mono"/>
              </a:rPr>
              <a:t>NanoporeAnalysis</a:t>
            </a:r>
            <a:r>
              <a:rPr lang="en" sz="1600" b="1" dirty="0">
                <a:solidFill>
                  <a:schemeClr val="dk2"/>
                </a:solidFill>
                <a:latin typeface="Roboto Mono"/>
                <a:ea typeface="Roboto Mono"/>
                <a:cs typeface="Roboto Mono"/>
                <a:sym typeface="Roboto Mono"/>
              </a:rPr>
              <a:t> </a:t>
            </a:r>
            <a:r>
              <a:rPr lang="en" sz="1600" dirty="0">
                <a:solidFill>
                  <a:schemeClr val="dk2"/>
                </a:solidFill>
                <a:latin typeface="Roboto Mono"/>
                <a:ea typeface="Roboto Mono"/>
                <a:cs typeface="Roboto Mono"/>
                <a:sym typeface="Roboto Mono"/>
              </a:rPr>
              <a:t>folder (Step 3)</a:t>
            </a:r>
            <a:endParaRPr sz="1600" dirty="0">
              <a:solidFill>
                <a:schemeClr val="dk2"/>
              </a:solidFill>
              <a:latin typeface="Roboto Mono"/>
              <a:ea typeface="Roboto Mono"/>
              <a:cs typeface="Roboto Mono"/>
              <a:sym typeface="Roboto Mono"/>
            </a:endParaRPr>
          </a:p>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Click </a:t>
            </a:r>
            <a:r>
              <a:rPr lang="en" sz="1600" b="1" dirty="0">
                <a:solidFill>
                  <a:schemeClr val="dk2"/>
                </a:solidFill>
                <a:latin typeface="Roboto Mono"/>
                <a:ea typeface="Roboto Mono"/>
                <a:cs typeface="Roboto Mono"/>
                <a:sym typeface="Roboto Mono"/>
              </a:rPr>
              <a:t>Copy/Move</a:t>
            </a:r>
            <a:r>
              <a:rPr lang="en" sz="1600" dirty="0">
                <a:solidFill>
                  <a:schemeClr val="dk2"/>
                </a:solidFill>
                <a:latin typeface="Roboto Mono"/>
                <a:ea typeface="Roboto Mono"/>
                <a:cs typeface="Roboto Mono"/>
                <a:sym typeface="Roboto Mono"/>
              </a:rPr>
              <a:t> button on the right top corner (Step 4)</a:t>
            </a:r>
            <a:endParaRPr sz="1600" dirty="0">
              <a:solidFill>
                <a:schemeClr val="dk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dirty="0">
                <a:solidFill>
                  <a:schemeClr val="dk2"/>
                </a:solidFill>
                <a:latin typeface="Roboto Mono"/>
                <a:ea typeface="Roboto Mono"/>
                <a:cs typeface="Roboto Mono"/>
                <a:sym typeface="Roboto Mono"/>
              </a:rPr>
              <a:t>Navigate to </a:t>
            </a:r>
            <a:r>
              <a:rPr lang="en" sz="1600" u="sng" dirty="0">
                <a:solidFill>
                  <a:schemeClr val="dk2"/>
                </a:solidFill>
                <a:latin typeface="Roboto Mono"/>
                <a:ea typeface="Roboto Mono"/>
                <a:cs typeface="Roboto Mono"/>
                <a:sym typeface="Roboto Mono"/>
              </a:rPr>
              <a:t>YOUR</a:t>
            </a:r>
            <a:r>
              <a:rPr lang="en" sz="1600" dirty="0">
                <a:solidFill>
                  <a:schemeClr val="dk2"/>
                </a:solidFill>
                <a:latin typeface="Roboto Mono"/>
                <a:ea typeface="Roboto Mono"/>
                <a:cs typeface="Roboto Mono"/>
                <a:sym typeface="Roboto Mono"/>
              </a:rPr>
              <a:t> folder (Directory) on the SCC, and </a:t>
            </a:r>
            <a:r>
              <a:rPr lang="en" sz="1600" b="1" u="sng" dirty="0">
                <a:solidFill>
                  <a:schemeClr val="dk2"/>
                </a:solidFill>
                <a:latin typeface="Roboto Mono"/>
                <a:ea typeface="Roboto Mono"/>
                <a:cs typeface="Roboto Mono"/>
                <a:sym typeface="Roboto Mono"/>
              </a:rPr>
              <a:t>copy</a:t>
            </a:r>
            <a:r>
              <a:rPr lang="en" sz="1600" dirty="0">
                <a:solidFill>
                  <a:schemeClr val="dk2"/>
                </a:solidFill>
                <a:latin typeface="Roboto Mono"/>
                <a:ea typeface="Roboto Mono"/>
                <a:cs typeface="Roboto Mono"/>
                <a:sym typeface="Roboto Mono"/>
              </a:rPr>
              <a:t> the folder “</a:t>
            </a:r>
            <a:r>
              <a:rPr lang="en" sz="1600" b="1" dirty="0" err="1">
                <a:solidFill>
                  <a:schemeClr val="dk2"/>
                </a:solidFill>
                <a:latin typeface="Roboto Mono"/>
                <a:ea typeface="Roboto Mono"/>
                <a:cs typeface="Roboto Mono"/>
                <a:sym typeface="Roboto Mono"/>
              </a:rPr>
              <a:t>NanoporeAnalysis</a:t>
            </a:r>
            <a:r>
              <a:rPr lang="en" sz="1600" dirty="0">
                <a:solidFill>
                  <a:schemeClr val="dk2"/>
                </a:solidFill>
                <a:latin typeface="Roboto Mono"/>
                <a:ea typeface="Roboto Mono"/>
                <a:cs typeface="Roboto Mono"/>
                <a:sym typeface="Roboto Mono"/>
              </a:rPr>
              <a:t>” to your directory.</a:t>
            </a:r>
            <a:endParaRPr sz="1600" dirty="0">
              <a:solidFill>
                <a:schemeClr val="dk2"/>
              </a:solidFill>
              <a:latin typeface="Roboto Mono"/>
              <a:ea typeface="Roboto Mono"/>
              <a:cs typeface="Roboto Mono"/>
              <a:sym typeface="Roboto Mono"/>
            </a:endParaRPr>
          </a:p>
          <a:p>
            <a:pPr marL="0" lvl="0" indent="0" algn="l" rtl="0">
              <a:spcBef>
                <a:spcPts val="0"/>
              </a:spcBef>
              <a:spcAft>
                <a:spcPts val="0"/>
              </a:spcAft>
              <a:buNone/>
            </a:pPr>
            <a:endParaRPr sz="1600" dirty="0">
              <a:solidFill>
                <a:schemeClr val="dk2"/>
              </a:solidFill>
              <a:latin typeface="Roboto Mono"/>
              <a:ea typeface="Roboto Mono"/>
              <a:cs typeface="Roboto Mono"/>
              <a:sym typeface="Roboto Mon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5" title="2025-06-26_15:16:25.png"/>
          <p:cNvPicPr preferRelativeResize="0"/>
          <p:nvPr/>
        </p:nvPicPr>
        <p:blipFill>
          <a:blip r:embed="rId3">
            <a:alphaModFix/>
          </a:blip>
          <a:stretch>
            <a:fillRect/>
          </a:stretch>
        </p:blipFill>
        <p:spPr>
          <a:xfrm>
            <a:off x="659500" y="1297000"/>
            <a:ext cx="4495850" cy="3506000"/>
          </a:xfrm>
          <a:prstGeom prst="rect">
            <a:avLst/>
          </a:prstGeom>
          <a:noFill/>
          <a:ln w="9525" cap="flat" cmpd="sng">
            <a:solidFill>
              <a:schemeClr val="dk2"/>
            </a:solidFill>
            <a:prstDash val="solid"/>
            <a:round/>
            <a:headEnd type="none" w="sm" len="sm"/>
            <a:tailEnd type="none" w="sm" len="sm"/>
          </a:ln>
        </p:spPr>
      </p:pic>
      <p:sp>
        <p:nvSpPr>
          <p:cNvPr id="80" name="Google Shape;80;p15"/>
          <p:cNvSpPr txBox="1"/>
          <p:nvPr/>
        </p:nvSpPr>
        <p:spPr>
          <a:xfrm>
            <a:off x="1118150" y="144850"/>
            <a:ext cx="7648200" cy="116952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Open </a:t>
            </a:r>
            <a:r>
              <a:rPr lang="en" sz="1600" dirty="0">
                <a:solidFill>
                  <a:schemeClr val="dk2"/>
                </a:solidFill>
                <a:highlight>
                  <a:srgbClr val="FFFF00"/>
                </a:highlight>
                <a:latin typeface="Roboto Mono"/>
                <a:ea typeface="Roboto Mono"/>
                <a:cs typeface="Roboto Mono"/>
                <a:sym typeface="Roboto Mono"/>
              </a:rPr>
              <a:t>your </a:t>
            </a:r>
            <a:r>
              <a:rPr lang="en" sz="1600" dirty="0">
                <a:solidFill>
                  <a:schemeClr val="dk2"/>
                </a:solidFill>
                <a:latin typeface="Roboto Mono"/>
                <a:ea typeface="Roboto Mono"/>
                <a:cs typeface="Roboto Mono"/>
                <a:sym typeface="Roboto Mono"/>
              </a:rPr>
              <a:t>“</a:t>
            </a:r>
            <a:r>
              <a:rPr lang="en" sz="1600" b="1" dirty="0" err="1">
                <a:solidFill>
                  <a:schemeClr val="dk2"/>
                </a:solidFill>
                <a:latin typeface="Roboto Mono"/>
                <a:ea typeface="Roboto Mono"/>
                <a:cs typeface="Roboto Mono"/>
                <a:sym typeface="Roboto Mono"/>
              </a:rPr>
              <a:t>NanoporeAnalysis</a:t>
            </a:r>
            <a:r>
              <a:rPr lang="en" sz="1600" dirty="0">
                <a:solidFill>
                  <a:schemeClr val="dk2"/>
                </a:solidFill>
                <a:latin typeface="Roboto Mono"/>
                <a:ea typeface="Roboto Mono"/>
                <a:cs typeface="Roboto Mono"/>
                <a:sym typeface="Roboto Mono"/>
              </a:rPr>
              <a:t>” directory (step 5),</a:t>
            </a:r>
            <a:endParaRPr sz="1600" dirty="0">
              <a:solidFill>
                <a:schemeClr val="dk2"/>
              </a:solidFill>
              <a:latin typeface="Roboto Mono"/>
              <a:ea typeface="Roboto Mono"/>
              <a:cs typeface="Roboto Mono"/>
              <a:sym typeface="Roboto Mono"/>
            </a:endParaRPr>
          </a:p>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Upload a copy of the FASTQ file(s) to be analyzed into the FASTQ folder (step 6)</a:t>
            </a:r>
            <a:endParaRPr sz="1600" dirty="0">
              <a:solidFill>
                <a:schemeClr val="dk2"/>
              </a:solidFill>
              <a:latin typeface="Roboto Mono"/>
              <a:ea typeface="Roboto Mono"/>
              <a:cs typeface="Roboto Mono"/>
              <a:sym typeface="Roboto Mono"/>
            </a:endParaRPr>
          </a:p>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Click “</a:t>
            </a:r>
            <a:r>
              <a:rPr lang="en" sz="1600" b="1" dirty="0">
                <a:solidFill>
                  <a:schemeClr val="dk2"/>
                </a:solidFill>
                <a:latin typeface="Roboto Mono"/>
                <a:ea typeface="Roboto Mono"/>
                <a:cs typeface="Roboto Mono"/>
                <a:sym typeface="Roboto Mono"/>
              </a:rPr>
              <a:t>Open in Terminal</a:t>
            </a:r>
            <a:r>
              <a:rPr lang="en" sz="1600" dirty="0">
                <a:solidFill>
                  <a:schemeClr val="dk2"/>
                </a:solidFill>
                <a:latin typeface="Roboto Mono"/>
                <a:ea typeface="Roboto Mono"/>
                <a:cs typeface="Roboto Mono"/>
                <a:sym typeface="Roboto Mono"/>
              </a:rPr>
              <a:t>” and select “</a:t>
            </a:r>
            <a:r>
              <a:rPr lang="en" sz="1600" b="1" dirty="0">
                <a:solidFill>
                  <a:schemeClr val="dk2"/>
                </a:solidFill>
                <a:latin typeface="Roboto Mono"/>
                <a:ea typeface="Roboto Mono"/>
                <a:cs typeface="Roboto Mono"/>
                <a:sym typeface="Roboto Mono"/>
              </a:rPr>
              <a:t>scc1</a:t>
            </a:r>
            <a:r>
              <a:rPr lang="en" sz="1600" dirty="0">
                <a:solidFill>
                  <a:schemeClr val="dk2"/>
                </a:solidFill>
                <a:latin typeface="Roboto Mono"/>
                <a:ea typeface="Roboto Mono"/>
                <a:cs typeface="Roboto Mono"/>
                <a:sym typeface="Roboto Mono"/>
              </a:rPr>
              <a:t>” (step 7)</a:t>
            </a:r>
            <a:endParaRPr sz="1600" dirty="0">
              <a:solidFill>
                <a:schemeClr val="dk2"/>
              </a:solidFill>
              <a:latin typeface="Roboto Mono"/>
              <a:ea typeface="Roboto Mono"/>
              <a:cs typeface="Roboto Mono"/>
              <a:sym typeface="Roboto Mono"/>
            </a:endParaRPr>
          </a:p>
        </p:txBody>
      </p:sp>
      <p:cxnSp>
        <p:nvCxnSpPr>
          <p:cNvPr id="81" name="Google Shape;81;p15"/>
          <p:cNvCxnSpPr>
            <a:stCxn id="82" idx="5"/>
          </p:cNvCxnSpPr>
          <p:nvPr/>
        </p:nvCxnSpPr>
        <p:spPr>
          <a:xfrm>
            <a:off x="1322248" y="1438298"/>
            <a:ext cx="912600" cy="521400"/>
          </a:xfrm>
          <a:prstGeom prst="straightConnector1">
            <a:avLst/>
          </a:prstGeom>
          <a:noFill/>
          <a:ln w="28575" cap="flat" cmpd="sng">
            <a:solidFill>
              <a:srgbClr val="FF0000"/>
            </a:solidFill>
            <a:prstDash val="dash"/>
            <a:round/>
            <a:headEnd type="none" w="med" len="med"/>
            <a:tailEnd type="stealth" w="med" len="med"/>
          </a:ln>
        </p:spPr>
      </p:cxnSp>
      <p:sp>
        <p:nvSpPr>
          <p:cNvPr id="82" name="Google Shape;82;p15"/>
          <p:cNvSpPr/>
          <p:nvPr/>
        </p:nvSpPr>
        <p:spPr>
          <a:xfrm>
            <a:off x="963500" y="1079550"/>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a:t>
            </a:r>
            <a:endParaRPr/>
          </a:p>
        </p:txBody>
      </p:sp>
      <p:cxnSp>
        <p:nvCxnSpPr>
          <p:cNvPr id="83" name="Google Shape;83;p15"/>
          <p:cNvCxnSpPr/>
          <p:nvPr/>
        </p:nvCxnSpPr>
        <p:spPr>
          <a:xfrm rot="10800000">
            <a:off x="3586100" y="3426575"/>
            <a:ext cx="576900" cy="0"/>
          </a:xfrm>
          <a:prstGeom prst="straightConnector1">
            <a:avLst/>
          </a:prstGeom>
          <a:noFill/>
          <a:ln w="28575" cap="flat" cmpd="sng">
            <a:solidFill>
              <a:srgbClr val="FF0000"/>
            </a:solidFill>
            <a:prstDash val="solid"/>
            <a:round/>
            <a:headEnd type="none" w="med" len="med"/>
            <a:tailEnd type="stealth" w="med" len="med"/>
          </a:ln>
        </p:spPr>
      </p:cxnSp>
      <p:sp>
        <p:nvSpPr>
          <p:cNvPr id="84" name="Google Shape;84;p15"/>
          <p:cNvSpPr/>
          <p:nvPr/>
        </p:nvSpPr>
        <p:spPr>
          <a:xfrm>
            <a:off x="4163000" y="3216425"/>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6</a:t>
            </a:r>
            <a:endParaRPr/>
          </a:p>
        </p:txBody>
      </p:sp>
      <p:cxnSp>
        <p:nvCxnSpPr>
          <p:cNvPr id="85" name="Google Shape;85;p15"/>
          <p:cNvCxnSpPr/>
          <p:nvPr/>
        </p:nvCxnSpPr>
        <p:spPr>
          <a:xfrm rot="10800000">
            <a:off x="4455250" y="1825847"/>
            <a:ext cx="1091700" cy="0"/>
          </a:xfrm>
          <a:prstGeom prst="straightConnector1">
            <a:avLst/>
          </a:prstGeom>
          <a:noFill/>
          <a:ln w="28575" cap="flat" cmpd="sng">
            <a:solidFill>
              <a:srgbClr val="FF0000"/>
            </a:solidFill>
            <a:prstDash val="solid"/>
            <a:round/>
            <a:headEnd type="none" w="med" len="med"/>
            <a:tailEnd type="stealth" w="med" len="med"/>
          </a:ln>
        </p:spPr>
      </p:cxnSp>
      <p:sp>
        <p:nvSpPr>
          <p:cNvPr id="86" name="Google Shape;86;p15"/>
          <p:cNvSpPr/>
          <p:nvPr/>
        </p:nvSpPr>
        <p:spPr>
          <a:xfrm>
            <a:off x="5546950" y="1615697"/>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7</a:t>
            </a:r>
            <a:endParaRPr/>
          </a:p>
        </p:txBody>
      </p:sp>
      <p:sp>
        <p:nvSpPr>
          <p:cNvPr id="87" name="Google Shape;87;p15"/>
          <p:cNvSpPr txBox="1"/>
          <p:nvPr/>
        </p:nvSpPr>
        <p:spPr>
          <a:xfrm>
            <a:off x="5329850" y="2780475"/>
            <a:ext cx="36801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latin typeface="Roboto Mono"/>
                <a:ea typeface="Roboto Mono"/>
                <a:cs typeface="Roboto Mono"/>
                <a:sym typeface="Roboto Mono"/>
              </a:rPr>
              <a:t>After step 7 you can see the terminal window with prompt</a:t>
            </a:r>
            <a:endParaRPr sz="1600">
              <a:solidFill>
                <a:schemeClr val="dk2"/>
              </a:solidFill>
              <a:latin typeface="Roboto Mono"/>
              <a:ea typeface="Roboto Mono"/>
              <a:cs typeface="Roboto Mono"/>
              <a:sym typeface="Roboto Mon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6" title="2025-06-26_15:18:06.png"/>
          <p:cNvPicPr preferRelativeResize="0"/>
          <p:nvPr/>
        </p:nvPicPr>
        <p:blipFill rotWithShape="1">
          <a:blip r:embed="rId3">
            <a:alphaModFix/>
          </a:blip>
          <a:srcRect b="60808"/>
          <a:stretch/>
        </p:blipFill>
        <p:spPr>
          <a:xfrm>
            <a:off x="210350" y="627050"/>
            <a:ext cx="8839201" cy="495825"/>
          </a:xfrm>
          <a:prstGeom prst="rect">
            <a:avLst/>
          </a:prstGeom>
          <a:noFill/>
          <a:ln w="9525" cap="flat" cmpd="sng">
            <a:solidFill>
              <a:schemeClr val="dk2"/>
            </a:solidFill>
            <a:prstDash val="solid"/>
            <a:round/>
            <a:headEnd type="none" w="sm" len="sm"/>
            <a:tailEnd type="none" w="sm" len="sm"/>
          </a:ln>
        </p:spPr>
      </p:pic>
      <p:sp>
        <p:nvSpPr>
          <p:cNvPr id="93" name="Google Shape;93;p16"/>
          <p:cNvSpPr txBox="1"/>
          <p:nvPr/>
        </p:nvSpPr>
        <p:spPr>
          <a:xfrm>
            <a:off x="270925" y="53825"/>
            <a:ext cx="6892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2"/>
                </a:solidFill>
                <a:latin typeface="Roboto Mono"/>
                <a:ea typeface="Roboto Mono"/>
                <a:cs typeface="Roboto Mono"/>
                <a:sym typeface="Roboto Mono"/>
              </a:rPr>
              <a:t>type </a:t>
            </a:r>
            <a:r>
              <a:rPr lang="en" sz="1600" b="1" dirty="0" err="1">
                <a:solidFill>
                  <a:schemeClr val="dk2"/>
                </a:solidFill>
                <a:latin typeface="Roboto Mono"/>
                <a:ea typeface="Roboto Mono"/>
                <a:cs typeface="Roboto Mono"/>
                <a:sym typeface="Roboto Mono"/>
              </a:rPr>
              <a:t>qsub</a:t>
            </a:r>
            <a:r>
              <a:rPr lang="en" sz="1600" b="1" dirty="0">
                <a:solidFill>
                  <a:schemeClr val="dk2"/>
                </a:solidFill>
                <a:latin typeface="Roboto Mono"/>
                <a:ea typeface="Roboto Mono"/>
                <a:cs typeface="Roboto Mono"/>
                <a:sym typeface="Roboto Mono"/>
              </a:rPr>
              <a:t> </a:t>
            </a:r>
            <a:r>
              <a:rPr lang="en" sz="1600" b="1" dirty="0" err="1">
                <a:solidFill>
                  <a:schemeClr val="dk2"/>
                </a:solidFill>
                <a:latin typeface="Roboto Mono"/>
                <a:ea typeface="Roboto Mono"/>
                <a:cs typeface="Roboto Mono"/>
                <a:sym typeface="Roboto Mono"/>
              </a:rPr>
              <a:t>run.qsub</a:t>
            </a:r>
            <a:r>
              <a:rPr lang="en" sz="1600" dirty="0">
                <a:solidFill>
                  <a:schemeClr val="dk2"/>
                </a:solidFill>
                <a:latin typeface="Roboto Mono"/>
                <a:ea typeface="Roboto Mono"/>
                <a:cs typeface="Roboto Mono"/>
                <a:sym typeface="Roboto Mono"/>
              </a:rPr>
              <a:t> and press Enter (Step 8)</a:t>
            </a:r>
            <a:endParaRPr sz="1600" dirty="0">
              <a:solidFill>
                <a:schemeClr val="dk2"/>
              </a:solidFill>
              <a:latin typeface="Roboto Mono"/>
              <a:ea typeface="Roboto Mono"/>
              <a:cs typeface="Roboto Mono"/>
              <a:sym typeface="Roboto Mono"/>
            </a:endParaRPr>
          </a:p>
        </p:txBody>
      </p:sp>
      <p:sp>
        <p:nvSpPr>
          <p:cNvPr id="94" name="Google Shape;94;p16"/>
          <p:cNvSpPr txBox="1"/>
          <p:nvPr/>
        </p:nvSpPr>
        <p:spPr>
          <a:xfrm>
            <a:off x="270925" y="1224772"/>
            <a:ext cx="7696500" cy="126185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dk2"/>
                </a:solidFill>
                <a:latin typeface="Roboto Mono"/>
                <a:ea typeface="Roboto Mono"/>
                <a:cs typeface="Roboto Mono"/>
                <a:sym typeface="Roboto Mono"/>
              </a:rPr>
              <a:t>There is NO indication in the Terminal, or in the program folder on the SCC whether the job has  completed, or not.</a:t>
            </a:r>
          </a:p>
          <a:p>
            <a:pPr marL="0" lvl="0" indent="0" algn="l" rtl="0">
              <a:spcBef>
                <a:spcPts val="0"/>
              </a:spcBef>
              <a:spcAft>
                <a:spcPts val="0"/>
              </a:spcAft>
              <a:buNone/>
            </a:pPr>
            <a:endParaRPr lang="en" dirty="0">
              <a:solidFill>
                <a:schemeClr val="dk2"/>
              </a:solidFill>
              <a:latin typeface="Roboto Mono"/>
              <a:ea typeface="Roboto Mono"/>
              <a:cs typeface="Roboto Mono"/>
              <a:sym typeface="Roboto Mono"/>
            </a:endParaRPr>
          </a:p>
          <a:p>
            <a:pPr marL="0" lvl="0" indent="0" algn="l" rtl="0">
              <a:spcBef>
                <a:spcPts val="0"/>
              </a:spcBef>
              <a:spcAft>
                <a:spcPts val="0"/>
              </a:spcAft>
              <a:buNone/>
            </a:pPr>
            <a:r>
              <a:rPr lang="en" b="1" dirty="0">
                <a:solidFill>
                  <a:schemeClr val="dk2"/>
                </a:solidFill>
                <a:latin typeface="Roboto Mono"/>
                <a:ea typeface="Roboto Mono"/>
                <a:cs typeface="Roboto Mono"/>
                <a:sym typeface="Roboto Mono"/>
              </a:rPr>
              <a:t>To check for completion</a:t>
            </a:r>
            <a:r>
              <a:rPr lang="en" dirty="0">
                <a:solidFill>
                  <a:schemeClr val="dk2"/>
                </a:solidFill>
                <a:latin typeface="Roboto Mono"/>
                <a:ea typeface="Roboto Mono"/>
                <a:cs typeface="Roboto Mono"/>
                <a:sym typeface="Roboto Mono"/>
              </a:rPr>
              <a:t>, after ~10 minutes, check this site:  </a:t>
            </a:r>
            <a:r>
              <a:rPr lang="en" dirty="0" err="1">
                <a:solidFill>
                  <a:schemeClr val="dk2"/>
                </a:solidFill>
                <a:latin typeface="Roboto Mono"/>
                <a:ea typeface="Roboto Mono"/>
                <a:cs typeface="Roboto Mono"/>
                <a:sym typeface="Roboto Mono"/>
              </a:rPr>
              <a:t>waxmanlabvm.bu.edu</a:t>
            </a:r>
            <a:r>
              <a:rPr lang="en" dirty="0">
                <a:solidFill>
                  <a:schemeClr val="dk2"/>
                </a:solidFill>
                <a:latin typeface="Roboto Mono"/>
                <a:ea typeface="Roboto Mono"/>
                <a:cs typeface="Roboto Mono"/>
                <a:sym typeface="Roboto Mono"/>
              </a:rPr>
              <a:t>/</a:t>
            </a:r>
            <a:r>
              <a:rPr lang="en" dirty="0" err="1">
                <a:solidFill>
                  <a:schemeClr val="dk2"/>
                </a:solidFill>
                <a:latin typeface="Roboto Mono"/>
                <a:ea typeface="Roboto Mono"/>
                <a:cs typeface="Roboto Mono"/>
                <a:sym typeface="Roboto Mono"/>
              </a:rPr>
              <a:t>NanoporeResults</a:t>
            </a:r>
            <a:r>
              <a:rPr lang="en" dirty="0">
                <a:solidFill>
                  <a:schemeClr val="dk2"/>
                </a:solidFill>
                <a:latin typeface="Roboto Mono"/>
                <a:ea typeface="Roboto Mono"/>
                <a:cs typeface="Roboto Mono"/>
                <a:sym typeface="Roboto Mono"/>
              </a:rPr>
              <a:t>/&lt;</a:t>
            </a:r>
            <a:r>
              <a:rPr lang="en" dirty="0" err="1">
                <a:solidFill>
                  <a:schemeClr val="dk2"/>
                </a:solidFill>
                <a:latin typeface="Roboto Mono"/>
                <a:ea typeface="Roboto Mono"/>
                <a:cs typeface="Roboto Mono"/>
                <a:sym typeface="Roboto Mono"/>
              </a:rPr>
              <a:t>YourUserName</a:t>
            </a:r>
            <a:r>
              <a:rPr lang="en" dirty="0">
                <a:solidFill>
                  <a:schemeClr val="dk2"/>
                </a:solidFill>
                <a:latin typeface="Roboto Mono"/>
                <a:ea typeface="Roboto Mono"/>
                <a:cs typeface="Roboto Mono"/>
                <a:sym typeface="Roboto Mono"/>
              </a:rPr>
              <a:t>&gt;</a:t>
            </a:r>
            <a:endParaRPr dirty="0">
              <a:solidFill>
                <a:schemeClr val="dk2"/>
              </a:solidFill>
              <a:latin typeface="Roboto Mono"/>
              <a:ea typeface="Roboto Mono"/>
              <a:cs typeface="Roboto Mono"/>
              <a:sym typeface="Roboto Mono"/>
            </a:endParaRPr>
          </a:p>
        </p:txBody>
      </p:sp>
      <p:pic>
        <p:nvPicPr>
          <p:cNvPr id="95" name="Google Shape;95;p16" title="2025-06-26_15:28:59.png"/>
          <p:cNvPicPr preferRelativeResize="0"/>
          <p:nvPr/>
        </p:nvPicPr>
        <p:blipFill>
          <a:blip r:embed="rId4">
            <a:alphaModFix/>
          </a:blip>
          <a:stretch>
            <a:fillRect/>
          </a:stretch>
        </p:blipFill>
        <p:spPr>
          <a:xfrm>
            <a:off x="2093900" y="2486626"/>
            <a:ext cx="5286544" cy="2513275"/>
          </a:xfrm>
          <a:prstGeom prst="rect">
            <a:avLst/>
          </a:prstGeom>
          <a:noFill/>
          <a:ln w="9525" cap="flat" cmpd="sng">
            <a:solidFill>
              <a:schemeClr val="dk2"/>
            </a:solidFill>
            <a:prstDash val="solid"/>
            <a:round/>
            <a:headEnd type="none" w="sm" len="sm"/>
            <a:tailEnd type="none" w="sm" len="sm"/>
          </a:ln>
        </p:spPr>
      </p:pic>
      <p:sp>
        <p:nvSpPr>
          <p:cNvPr id="96" name="Google Shape;96;p16"/>
          <p:cNvSpPr/>
          <p:nvPr/>
        </p:nvSpPr>
        <p:spPr>
          <a:xfrm>
            <a:off x="5503475" y="664813"/>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8</a:t>
            </a:r>
            <a:endParaRPr/>
          </a:p>
        </p:txBody>
      </p:sp>
      <p:cxnSp>
        <p:nvCxnSpPr>
          <p:cNvPr id="97" name="Google Shape;97;p16"/>
          <p:cNvCxnSpPr>
            <a:cxnSpLocks/>
          </p:cNvCxnSpPr>
          <p:nvPr/>
        </p:nvCxnSpPr>
        <p:spPr>
          <a:xfrm rot="10800000" flipH="1">
            <a:off x="469225" y="2459438"/>
            <a:ext cx="960600" cy="720900"/>
          </a:xfrm>
          <a:prstGeom prst="straightConnector1">
            <a:avLst/>
          </a:prstGeom>
          <a:noFill/>
          <a:ln w="28575" cap="flat" cmpd="sng">
            <a:solidFill>
              <a:srgbClr val="FF0000"/>
            </a:solidFill>
            <a:prstDash val="solid"/>
            <a:round/>
            <a:headEnd type="none" w="med" len="med"/>
            <a:tailEnd type="stealth" w="med" len="med"/>
          </a:ln>
        </p:spPr>
      </p:cxnSp>
      <p:sp>
        <p:nvSpPr>
          <p:cNvPr id="98" name="Google Shape;98;p16"/>
          <p:cNvSpPr/>
          <p:nvPr/>
        </p:nvSpPr>
        <p:spPr>
          <a:xfrm>
            <a:off x="259075" y="2970188"/>
            <a:ext cx="420300"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9</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B03CEBA-B1C3-F510-07D6-47B85BC468EE}"/>
              </a:ext>
            </a:extLst>
          </p:cNvPr>
          <p:cNvSpPr txBox="1"/>
          <p:nvPr/>
        </p:nvSpPr>
        <p:spPr>
          <a:xfrm>
            <a:off x="889907" y="146838"/>
            <a:ext cx="7862208" cy="4755148"/>
          </a:xfrm>
          <a:prstGeom prst="rect">
            <a:avLst/>
          </a:prstGeom>
          <a:noFill/>
        </p:spPr>
        <p:txBody>
          <a:bodyPr wrap="square">
            <a:spAutoFit/>
          </a:bodyPr>
          <a:lstStyle/>
          <a:p>
            <a:r>
              <a:rPr lang="en-US" b="1" dirty="0"/>
              <a:t>How to upload the Nanopore sequencing tracks to the UCSC Browser: </a:t>
            </a:r>
          </a:p>
          <a:p>
            <a:endParaRPr lang="en-US" dirty="0"/>
          </a:p>
          <a:p>
            <a:pPr marL="342900" indent="-342900">
              <a:buAutoNum type="arabicPeriod"/>
            </a:pPr>
            <a:r>
              <a:rPr lang="en-US" sz="1100" dirty="0"/>
              <a:t>Open UCSC browser and go to My Data </a:t>
            </a:r>
            <a:r>
              <a:rPr lang="en-US" sz="1100" dirty="0">
                <a:sym typeface="Wingdings" pitchFamily="2" charset="2"/>
              </a:rPr>
              <a:t> My Sessions, to access </a:t>
            </a:r>
            <a:r>
              <a:rPr lang="en-US" sz="1100" dirty="0"/>
              <a:t>our lab’s saved UCSC Browser sessions</a:t>
            </a:r>
          </a:p>
          <a:p>
            <a:pPr marL="342900" indent="-342900">
              <a:buAutoNum type="arabicPeriod"/>
            </a:pPr>
            <a:endParaRPr lang="en-US" sz="1100" dirty="0"/>
          </a:p>
          <a:p>
            <a:pPr marL="342900" indent="-342900">
              <a:buAutoNum type="arabicPeriod"/>
            </a:pPr>
            <a:r>
              <a:rPr lang="en-US" sz="1100" dirty="0"/>
              <a:t>Inside the search input type "DEFAULT_RNASEQ" </a:t>
            </a:r>
          </a:p>
          <a:p>
            <a:pPr marL="342900" indent="-342900">
              <a:buAutoNum type="arabicPeriod"/>
            </a:pPr>
            <a:endParaRPr lang="en-US" sz="1100" dirty="0"/>
          </a:p>
          <a:p>
            <a:pPr marL="342900" indent="-342900">
              <a:buAutoNum type="arabicPeriod"/>
            </a:pPr>
            <a:r>
              <a:rPr lang="en-US" sz="1100" dirty="0"/>
              <a:t>Open this session and go to "My data" -&gt; "Custom tracks”</a:t>
            </a:r>
          </a:p>
          <a:p>
            <a:pPr marL="342900" indent="-342900">
              <a:buAutoNum type="arabicPeriod"/>
            </a:pPr>
            <a:endParaRPr lang="en-US" sz="1100" dirty="0"/>
          </a:p>
          <a:p>
            <a:pPr marL="342900" indent="-342900">
              <a:buAutoNum type="arabicPeriod"/>
            </a:pPr>
            <a:r>
              <a:rPr lang="en-US" sz="1100" dirty="0"/>
              <a:t>Click: Add Custom Tracks </a:t>
            </a:r>
          </a:p>
          <a:p>
            <a:pPr marL="342900" indent="-342900">
              <a:buAutoNum type="arabicPeriod"/>
            </a:pPr>
            <a:endParaRPr lang="en-US" sz="1100" dirty="0"/>
          </a:p>
          <a:p>
            <a:pPr marL="342900" indent="-342900">
              <a:buAutoNum type="arabicPeriod"/>
            </a:pPr>
            <a:r>
              <a:rPr lang="en-US" sz="1100" dirty="0"/>
              <a:t>Go to http://</a:t>
            </a:r>
            <a:r>
              <a:rPr lang="en-US" sz="1100" dirty="0" err="1"/>
              <a:t>waxmanlabvm.bu.edu</a:t>
            </a:r>
            <a:r>
              <a:rPr lang="en-US" sz="1100" dirty="0"/>
              <a:t>/</a:t>
            </a:r>
            <a:r>
              <a:rPr lang="en-US" sz="1100" dirty="0" err="1"/>
              <a:t>NanoporeResults</a:t>
            </a:r>
            <a:r>
              <a:rPr lang="en-US" sz="1100" dirty="0"/>
              <a:t>/&lt;USERNAME&gt;/&lt;FASTQ&gt;/</a:t>
            </a:r>
            <a:r>
              <a:rPr lang="en-US" sz="1100" dirty="0" err="1"/>
              <a:t>tracklines.txt</a:t>
            </a:r>
            <a:r>
              <a:rPr lang="en-US" sz="1100" dirty="0"/>
              <a:t> in browser and copy the text, the Paste into "Custom tracks" window </a:t>
            </a:r>
          </a:p>
          <a:p>
            <a:pPr marL="342900" indent="-342900">
              <a:buAutoNum type="arabicPeriod"/>
            </a:pPr>
            <a:endParaRPr lang="en-US" sz="1100" dirty="0"/>
          </a:p>
          <a:p>
            <a:pPr marL="342900" indent="-342900">
              <a:buAutoNum type="arabicPeriod"/>
            </a:pPr>
            <a:r>
              <a:rPr lang="en-US" sz="1100" dirty="0"/>
              <a:t>Click "Submit”</a:t>
            </a:r>
          </a:p>
          <a:p>
            <a:pPr marL="342900" indent="-342900">
              <a:buAutoNum type="arabicPeriod"/>
            </a:pPr>
            <a:endParaRPr lang="en-US" sz="1100" dirty="0"/>
          </a:p>
          <a:p>
            <a:pPr marL="342900" indent="-342900">
              <a:buAutoNum type="arabicPeriod"/>
            </a:pPr>
            <a:r>
              <a:rPr lang="en-US" sz="1100" dirty="0"/>
              <a:t>Click “Return to current position” (at top right)</a:t>
            </a:r>
          </a:p>
          <a:p>
            <a:pPr marL="342900" indent="-342900">
              <a:buAutoNum type="arabicPeriod"/>
            </a:pPr>
            <a:endParaRPr lang="en-US" sz="1100" dirty="0"/>
          </a:p>
          <a:p>
            <a:pPr marL="342900" indent="-342900">
              <a:buAutoNum type="arabicPeriod"/>
            </a:pPr>
            <a:r>
              <a:rPr lang="en-US" sz="1100" dirty="0"/>
              <a:t>Navigate to the genomic region where you expect Sequence reads, e.g., lnc14873 (see </a:t>
            </a:r>
            <a:r>
              <a:rPr lang="en-US" sz="1100" dirty="0" err="1"/>
              <a:t>Combined_Report.xlsx</a:t>
            </a:r>
            <a:r>
              <a:rPr lang="en-US" sz="1100" dirty="0"/>
              <a:t>, tabs marked “</a:t>
            </a:r>
            <a:r>
              <a:rPr lang="en-US" sz="1100" dirty="0" err="1"/>
              <a:t>FeatCounts</a:t>
            </a:r>
            <a:r>
              <a:rPr lang="en-US" sz="1100" dirty="0"/>
              <a:t>” (</a:t>
            </a:r>
            <a:r>
              <a:rPr lang="en-US" sz="1100" dirty="0" err="1"/>
              <a:t>FeatureCounts</a:t>
            </a:r>
            <a:r>
              <a:rPr lang="en-US" sz="1100" dirty="0"/>
              <a:t>) for read numbers at each genomic regions)</a:t>
            </a:r>
          </a:p>
          <a:p>
            <a:pPr marL="342900" indent="-342900">
              <a:buAutoNum type="arabicPeriod"/>
            </a:pPr>
            <a:endParaRPr lang="en-US" sz="1100" dirty="0"/>
          </a:p>
          <a:p>
            <a:pPr marL="342900" indent="-342900">
              <a:buAutoNum type="arabicPeriod"/>
            </a:pPr>
            <a:r>
              <a:rPr lang="en-US" sz="1100" dirty="0"/>
              <a:t>For any Track with the file </a:t>
            </a:r>
            <a:r>
              <a:rPr lang="en-US" sz="1100" dirty="0" err="1"/>
              <a:t>extension.bam</a:t>
            </a:r>
            <a:r>
              <a:rPr lang="en-US" sz="1100" dirty="0"/>
              <a:t>, you have Right-Click on the gray edge of the Track, at the left, and change the Track setting to Squish, or to another setting to visualize (a subset) of the individual reads, including spliced reads.</a:t>
            </a:r>
          </a:p>
          <a:p>
            <a:pPr marL="342900" indent="-342900">
              <a:buAutoNum type="arabicPeriod"/>
            </a:pPr>
            <a:endParaRPr lang="en-US" sz="1100" dirty="0"/>
          </a:p>
          <a:p>
            <a:pPr marL="342900" indent="-342900">
              <a:buAutoNum type="arabicPeriod"/>
            </a:pPr>
            <a:r>
              <a:rPr lang="en-US" sz="1100" dirty="0"/>
              <a:t>To SAVE the UCSC Browser session, go to My data </a:t>
            </a:r>
            <a:r>
              <a:rPr lang="en-US" sz="1100" dirty="0">
                <a:sym typeface="Wingdings" pitchFamily="2" charset="2"/>
              </a:rPr>
              <a:t> My Sessions, then type a suitably descriptive name for the session, including the Nanopore sample number, anything extra to help you and others identify it, and your NAME. </a:t>
            </a:r>
          </a:p>
          <a:p>
            <a:pPr marL="342900" indent="-342900">
              <a:buAutoNum type="arabicPeriod"/>
            </a:pPr>
            <a:endParaRPr lang="en-US" sz="1100" dirty="0">
              <a:sym typeface="Wingdings" pitchFamily="2" charset="2"/>
            </a:endParaRPr>
          </a:p>
          <a:p>
            <a:pPr marL="342900" indent="-342900">
              <a:buAutoNum type="arabicPeriod"/>
            </a:pPr>
            <a:r>
              <a:rPr lang="en-US" sz="1100" dirty="0">
                <a:sym typeface="Wingdings" pitchFamily="2" charset="2"/>
              </a:rPr>
              <a:t>Click ‘Submit’ at the Right </a:t>
            </a:r>
            <a:r>
              <a:rPr lang="en-US" sz="1100">
                <a:sym typeface="Wingdings" pitchFamily="2" charset="2"/>
              </a:rPr>
              <a:t>to save.</a:t>
            </a:r>
            <a:endParaRPr lang="en-US" sz="1100" dirty="0"/>
          </a:p>
        </p:txBody>
      </p:sp>
      <p:sp>
        <p:nvSpPr>
          <p:cNvPr id="6" name="Google Shape;98;p16">
            <a:extLst>
              <a:ext uri="{FF2B5EF4-FFF2-40B4-BE49-F238E27FC236}">
                <a16:creationId xmlns:a16="http://schemas.microsoft.com/office/drawing/2014/main" id="{7AAFDACD-58B2-6BA6-188D-849C31FB46C0}"/>
              </a:ext>
            </a:extLst>
          </p:cNvPr>
          <p:cNvSpPr/>
          <p:nvPr/>
        </p:nvSpPr>
        <p:spPr>
          <a:xfrm>
            <a:off x="244928" y="308630"/>
            <a:ext cx="547008" cy="4203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t>10</a:t>
            </a:r>
            <a:endParaRPr dirty="0"/>
          </a:p>
        </p:txBody>
      </p:sp>
    </p:spTree>
    <p:extLst>
      <p:ext uri="{BB962C8B-B14F-4D97-AF65-F5344CB8AC3E}">
        <p14:creationId xmlns:p14="http://schemas.microsoft.com/office/powerpoint/2010/main" val="355438149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4263</TotalTime>
  <Words>458</Words>
  <Application>Microsoft Macintosh PowerPoint</Application>
  <PresentationFormat>On-screen Show (16:9)</PresentationFormat>
  <Paragraphs>47</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Roboto Mono</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DJ Waxman</cp:lastModifiedBy>
  <cp:revision>8</cp:revision>
  <dcterms:modified xsi:type="dcterms:W3CDTF">2025-07-04T14:38:13Z</dcterms:modified>
</cp:coreProperties>
</file>